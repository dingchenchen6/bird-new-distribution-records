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2" Type="http://schemas.openxmlformats.org/package/2006/relationships/metadata/thumbnail" Target="docProps/thumbnail.jpeg"/>
<Relationship Id="rId1" Type="http://schemas.openxmlformats.org/officeDocument/2006/relationships/officeDocument" Target="ppt/presentation.xml"/>
<Relationship Id="rId4" Type="http://schemas.openxmlformats.org/officeDocument/2006/relationships/extended-properties" Target="docProps/app.xml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6"/>
  </p:sldIdLst>
  <p:sldSz cx="15087600" cy="10698163"/>
  <p:notesSz cx="6858000" cy="9144000"/>
  <p:defaultTextStyle>
    <a:defPPr>
      <a:defRPr lang="en-US"/>
    </a:defPPr>
    <a:lvl1pPr marL="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1pPr>
    <a:lvl2pPr marL="526237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2pPr>
    <a:lvl3pPr marL="1052474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3pPr>
    <a:lvl4pPr marL="1578712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4pPr>
    <a:lvl5pPr marL="2104949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5pPr>
    <a:lvl6pPr marL="2631186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6pPr>
    <a:lvl7pPr marL="3157423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7pPr>
    <a:lvl8pPr marL="3683660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8pPr>
    <a:lvl9pPr marL="4209898" algn="l" defTabSz="1052474" rtl="0" eaLnBrk="1" latinLnBrk="0" hangingPunct="1">
      <a:defRPr sz="21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howGuides="1">
      <p:cViewPr varScale="1">
        <p:scale>
          <a:sx n="53" d="100"/>
          <a:sy n="53" d="100"/>
        </p:scale>
        <p:origin x="-1339" y="-86"/>
      </p:cViewPr>
      <p:guideLst>
        <p:guide orient="horz" pos="3370"/>
        <p:guide pos="4752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viewProps" Target="viewProps.xml"/>
<Relationship Id="rId2" Type="http://schemas.openxmlformats.org/officeDocument/2006/relationships/presProps" Target="presProps.xml"/>
<Relationship Id="rId1" Type="http://schemas.openxmlformats.org/officeDocument/2006/relationships/slideMaster" Target="slideMasters/slideMaster1.xml"/>
<Relationship Id="rId5" Type="http://schemas.openxmlformats.org/officeDocument/2006/relationships/tableStyles" Target="tableStyles.xml"/>
<Relationship Id="rId4" Type="http://schemas.openxmlformats.org/officeDocument/2006/relationships/theme" Target="theme/theme1.xml"/>
<Relationship Id="rId6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1570" y="3323370"/>
            <a:ext cx="12824460" cy="2293171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263140" y="6062292"/>
            <a:ext cx="10561320" cy="2733975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526237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05247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578712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10494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631186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15742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68366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20989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2962635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7249968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91817" y="6874563"/>
            <a:ext cx="12824460" cy="2124774"/>
          </a:xfrm>
        </p:spPr>
        <p:txBody>
          <a:bodyPr anchor="t"/>
          <a:lstStyle>
            <a:lvl1pPr algn="l">
              <a:defRPr sz="46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91817" y="4534341"/>
            <a:ext cx="12824460" cy="2340223"/>
          </a:xfrm>
        </p:spPr>
        <p:txBody>
          <a:bodyPr anchor="b"/>
          <a:lstStyle>
            <a:lvl1pPr marL="0" indent="0">
              <a:buNone/>
              <a:defRPr sz="2300">
                <a:solidFill>
                  <a:schemeClr val="tx1">
                    <a:tint val="75000"/>
                  </a:schemeClr>
                </a:solidFill>
              </a:defRPr>
            </a:lvl1pPr>
            <a:lvl2pPr marL="526237" indent="0">
              <a:buNone/>
              <a:defRPr sz="2100">
                <a:solidFill>
                  <a:schemeClr val="tx1">
                    <a:tint val="75000"/>
                  </a:schemeClr>
                </a:solidFill>
              </a:defRPr>
            </a:lvl2pPr>
            <a:lvl3pPr marL="1052474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578712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2104949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631186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3157423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68366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4209898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0613276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7249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98184" y="2496240"/>
            <a:ext cx="7229475" cy="706029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300"/>
            </a:lvl3pPr>
            <a:lvl4pPr>
              <a:defRPr sz="2100"/>
            </a:lvl4pPr>
            <a:lvl5pPr>
              <a:defRPr sz="2100"/>
            </a:lvl5pPr>
            <a:lvl6pPr>
              <a:defRPr sz="2100"/>
            </a:lvl6pPr>
            <a:lvl7pPr>
              <a:defRPr sz="2100"/>
            </a:lvl7pPr>
            <a:lvl8pPr>
              <a:defRPr sz="2100"/>
            </a:lvl8pPr>
            <a:lvl9pPr>
              <a:defRPr sz="21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8314036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4" y="2394706"/>
            <a:ext cx="666631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4384" y="3392705"/>
            <a:ext cx="666631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664295" y="2394706"/>
            <a:ext cx="6668930" cy="997999"/>
          </a:xfrm>
        </p:spPr>
        <p:txBody>
          <a:bodyPr anchor="b"/>
          <a:lstStyle>
            <a:lvl1pPr marL="0" indent="0">
              <a:buNone/>
              <a:defRPr sz="2800" b="1"/>
            </a:lvl1pPr>
            <a:lvl2pPr marL="526237" indent="0">
              <a:buNone/>
              <a:defRPr sz="2300" b="1"/>
            </a:lvl2pPr>
            <a:lvl3pPr marL="1052474" indent="0">
              <a:buNone/>
              <a:defRPr sz="2100" b="1"/>
            </a:lvl3pPr>
            <a:lvl4pPr marL="1578712" indent="0">
              <a:buNone/>
              <a:defRPr sz="1800" b="1"/>
            </a:lvl4pPr>
            <a:lvl5pPr marL="2104949" indent="0">
              <a:buNone/>
              <a:defRPr sz="1800" b="1"/>
            </a:lvl5pPr>
            <a:lvl6pPr marL="2631186" indent="0">
              <a:buNone/>
              <a:defRPr sz="1800" b="1"/>
            </a:lvl6pPr>
            <a:lvl7pPr marL="3157423" indent="0">
              <a:buNone/>
              <a:defRPr sz="1800" b="1"/>
            </a:lvl7pPr>
            <a:lvl8pPr marL="3683660" indent="0">
              <a:buNone/>
              <a:defRPr sz="1800" b="1"/>
            </a:lvl8pPr>
            <a:lvl9pPr marL="4209898" indent="0">
              <a:buNone/>
              <a:defRPr sz="18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664295" y="3392705"/>
            <a:ext cx="6668930" cy="6163826"/>
          </a:xfrm>
        </p:spPr>
        <p:txBody>
          <a:bodyPr/>
          <a:lstStyle>
            <a:lvl1pPr>
              <a:defRPr sz="2800"/>
            </a:lvl1pPr>
            <a:lvl2pPr>
              <a:defRPr sz="2300"/>
            </a:lvl2pPr>
            <a:lvl3pPr>
              <a:defRPr sz="21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3055970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0156412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43181881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4384" y="425946"/>
            <a:ext cx="4963717" cy="1812744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898834" y="425950"/>
            <a:ext cx="8434386" cy="9130587"/>
          </a:xfrm>
        </p:spPr>
        <p:txBody>
          <a:bodyPr/>
          <a:lstStyle>
            <a:lvl1pPr>
              <a:defRPr sz="3700"/>
            </a:lvl1pPr>
            <a:lvl2pPr>
              <a:defRPr sz="3200"/>
            </a:lvl2pPr>
            <a:lvl3pPr>
              <a:defRPr sz="2800"/>
            </a:lvl3pPr>
            <a:lvl4pPr>
              <a:defRPr sz="2300"/>
            </a:lvl4pPr>
            <a:lvl5pPr>
              <a:defRPr sz="2300"/>
            </a:lvl5pPr>
            <a:lvl6pPr>
              <a:defRPr sz="2300"/>
            </a:lvl6pPr>
            <a:lvl7pPr>
              <a:defRPr sz="2300"/>
            </a:lvl7pPr>
            <a:lvl8pPr>
              <a:defRPr sz="2300"/>
            </a:lvl8pPr>
            <a:lvl9pPr>
              <a:defRPr sz="23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4384" y="2238692"/>
            <a:ext cx="4963717" cy="7317841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10804531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57275" y="7488714"/>
            <a:ext cx="9052560" cy="884086"/>
          </a:xfrm>
        </p:spPr>
        <p:txBody>
          <a:bodyPr anchor="b"/>
          <a:lstStyle>
            <a:lvl1pPr algn="l">
              <a:defRPr sz="2300" b="1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957275" y="955901"/>
            <a:ext cx="9052560" cy="6418898"/>
          </a:xfrm>
        </p:spPr>
        <p:txBody>
          <a:bodyPr/>
          <a:lstStyle>
            <a:lvl1pPr marL="0" indent="0">
              <a:buNone/>
              <a:defRPr sz="3700"/>
            </a:lvl1pPr>
            <a:lvl2pPr marL="526237" indent="0">
              <a:buNone/>
              <a:defRPr sz="3200"/>
            </a:lvl2pPr>
            <a:lvl3pPr marL="1052474" indent="0">
              <a:buNone/>
              <a:defRPr sz="2800"/>
            </a:lvl3pPr>
            <a:lvl4pPr marL="1578712" indent="0">
              <a:buNone/>
              <a:defRPr sz="2300"/>
            </a:lvl4pPr>
            <a:lvl5pPr marL="2104949" indent="0">
              <a:buNone/>
              <a:defRPr sz="2300"/>
            </a:lvl5pPr>
            <a:lvl6pPr marL="2631186" indent="0">
              <a:buNone/>
              <a:defRPr sz="2300"/>
            </a:lvl6pPr>
            <a:lvl7pPr marL="3157423" indent="0">
              <a:buNone/>
              <a:defRPr sz="2300"/>
            </a:lvl7pPr>
            <a:lvl8pPr marL="3683660" indent="0">
              <a:buNone/>
              <a:defRPr sz="2300"/>
            </a:lvl8pPr>
            <a:lvl9pPr marL="4209898" indent="0">
              <a:buNone/>
              <a:defRPr sz="2300"/>
            </a:lvl9pPr>
          </a:lstStyle>
          <a:p>
            <a:endParaRPr lang="en-GB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957275" y="8372800"/>
            <a:ext cx="9052560" cy="1255547"/>
          </a:xfrm>
        </p:spPr>
        <p:txBody>
          <a:bodyPr/>
          <a:lstStyle>
            <a:lvl1pPr marL="0" indent="0">
              <a:buNone/>
              <a:defRPr sz="1600"/>
            </a:lvl1pPr>
            <a:lvl2pPr marL="526237" indent="0">
              <a:buNone/>
              <a:defRPr sz="1400"/>
            </a:lvl2pPr>
            <a:lvl3pPr marL="1052474" indent="0">
              <a:buNone/>
              <a:defRPr sz="1200"/>
            </a:lvl3pPr>
            <a:lvl4pPr marL="1578712" indent="0">
              <a:buNone/>
              <a:defRPr sz="1000"/>
            </a:lvl4pPr>
            <a:lvl5pPr marL="2104949" indent="0">
              <a:buNone/>
              <a:defRPr sz="1000"/>
            </a:lvl5pPr>
            <a:lvl6pPr marL="2631186" indent="0">
              <a:buNone/>
              <a:defRPr sz="1000"/>
            </a:lvl6pPr>
            <a:lvl7pPr marL="3157423" indent="0">
              <a:buNone/>
              <a:defRPr sz="1000"/>
            </a:lvl7pPr>
            <a:lvl8pPr marL="3683660" indent="0">
              <a:buNone/>
              <a:defRPr sz="1000"/>
            </a:lvl8pPr>
            <a:lvl9pPr marL="4209898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0562714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8046033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850052" y="428427"/>
            <a:ext cx="3677604" cy="9128109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7249" y="428427"/>
            <a:ext cx="10781349" cy="9128109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71573091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428422"/>
            <a:ext cx="13578840" cy="1783027"/>
          </a:xfrm>
          <a:prstGeom prst="rect">
            <a:avLst/>
          </a:prstGeom>
        </p:spPr>
        <p:txBody>
          <a:bodyPr vert="horz" lIns="105247" tIns="52624" rIns="105247" bIns="52624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2496240"/>
            <a:ext cx="13578840" cy="7060293"/>
          </a:xfrm>
          <a:prstGeom prst="rect">
            <a:avLst/>
          </a:prstGeom>
        </p:spPr>
        <p:txBody>
          <a:bodyPr vert="horz" lIns="105247" tIns="52624" rIns="105247" bIns="52624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l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A5D40C-A8DC-479A-A5D3-E7B4936A184B}" type="datetimeFigureOut">
              <a:rPr lang="en-GB" smtClean="0"/>
              <a:t>15/07/2015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154930" y="9915617"/>
            <a:ext cx="47777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ct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812780" y="9915617"/>
            <a:ext cx="3520440" cy="569578"/>
          </a:xfrm>
          <a:prstGeom prst="rect">
            <a:avLst/>
          </a:prstGeom>
        </p:spPr>
        <p:txBody>
          <a:bodyPr vert="horz" lIns="105247" tIns="52624" rIns="105247" bIns="52624" rtlCol="0" anchor="ctr"/>
          <a:lstStyle>
            <a:lvl1pPr algn="r">
              <a:defRPr sz="14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2235FAC-C7EA-4164-B888-497B3F49A53C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66627459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1052474" rtl="0" eaLnBrk="1" latinLnBrk="0" hangingPunct="1">
        <a:spcBef>
          <a:spcPct val="0"/>
        </a:spcBef>
        <a:buNone/>
        <a:defRPr sz="51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94678" indent="-394678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3700" kern="1200">
          <a:solidFill>
            <a:schemeClr val="tx1"/>
          </a:solidFill>
          <a:latin typeface="+mn-lt"/>
          <a:ea typeface="+mn-ea"/>
          <a:cs typeface="+mn-cs"/>
        </a:defRPr>
      </a:lvl1pPr>
      <a:lvl2pPr marL="855135" indent="-328898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3200" kern="1200">
          <a:solidFill>
            <a:schemeClr val="tx1"/>
          </a:solidFill>
          <a:latin typeface="+mn-lt"/>
          <a:ea typeface="+mn-ea"/>
          <a:cs typeface="+mn-cs"/>
        </a:defRPr>
      </a:lvl2pPr>
      <a:lvl3pPr marL="1315593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3pPr>
      <a:lvl4pPr marL="1841830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–"/>
        <a:defRPr sz="2300" kern="1200">
          <a:solidFill>
            <a:schemeClr val="tx1"/>
          </a:solidFill>
          <a:latin typeface="+mn-lt"/>
          <a:ea typeface="+mn-ea"/>
          <a:cs typeface="+mn-cs"/>
        </a:defRPr>
      </a:lvl4pPr>
      <a:lvl5pPr marL="2368067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»"/>
        <a:defRPr sz="2300" kern="1200">
          <a:solidFill>
            <a:schemeClr val="tx1"/>
          </a:solidFill>
          <a:latin typeface="+mn-lt"/>
          <a:ea typeface="+mn-ea"/>
          <a:cs typeface="+mn-cs"/>
        </a:defRPr>
      </a:lvl5pPr>
      <a:lvl6pPr marL="2894305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6pPr>
      <a:lvl7pPr marL="3420542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7pPr>
      <a:lvl8pPr marL="3946779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8pPr>
      <a:lvl9pPr marL="4473016" indent="-263119" algn="l" defTabSz="1052474" rtl="0" eaLnBrk="1" latinLnBrk="0" hangingPunct="1">
        <a:spcBef>
          <a:spcPct val="20000"/>
        </a:spcBef>
        <a:buFont typeface="Arial" panose="020B0604020202020204" pitchFamily="34" charset="0"/>
        <a:buChar char="•"/>
        <a:defRPr sz="2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26237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2pPr>
      <a:lvl3pPr marL="1052474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578712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4pPr>
      <a:lvl5pPr marL="2104949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5pPr>
      <a:lvl6pPr marL="2631186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6pPr>
      <a:lvl7pPr marL="3157423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7pPr>
      <a:lvl8pPr marL="3683660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8pPr>
      <a:lvl9pPr marL="4209898" algn="l" defTabSz="1052474" rtl="0" eaLnBrk="1" latinLnBrk="0" hangingPunct="1">
        <a:defRPr sz="21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1142842"/>
            <a:ext cx="14173200" cy="8412480"/>
            <a:chOff x="457200" y="1142842"/>
            <a:chExt cx="14173200" cy="8412480"/>
          </a:xfrm>
        </p:grpSpPr>
        <p:sp>
          <p:nvSpPr>
            <p:cNvPr id="3" name="rc3"/>
            <p:cNvSpPr/>
            <p:nvPr/>
          </p:nvSpPr>
          <p:spPr>
            <a:xfrm>
              <a:off x="457200" y="1142841"/>
              <a:ext cx="14173200" cy="84124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457200" y="1142841"/>
              <a:ext cx="14173200" cy="841248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526789" y="1212430"/>
              <a:ext cx="7597847" cy="40605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8124636" y="1212430"/>
              <a:ext cx="6436173" cy="4060524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2223110" y="1616755"/>
              <a:ext cx="5130178" cy="34376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pl8"/>
            <p:cNvSpPr/>
            <p:nvPr/>
          </p:nvSpPr>
          <p:spPr>
            <a:xfrm>
              <a:off x="2333569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" name="pl9"/>
            <p:cNvSpPr/>
            <p:nvPr/>
          </p:nvSpPr>
          <p:spPr>
            <a:xfrm>
              <a:off x="3560884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88200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6015515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7242831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2456300" y="1999804"/>
              <a:ext cx="2209167" cy="3054555"/>
            </a:xfrm>
            <a:prstGeom prst="rect">
              <a:avLst/>
            </a:prstGeom>
            <a:solidFill>
              <a:srgbClr val="D1E1EC">
                <a:alpha val="100000"/>
              </a:srgbClr>
            </a:solidFill>
            <a:ln w="12565" cap="flat">
              <a:solidFill>
                <a:srgbClr val="B3CD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4910931" y="2860820"/>
              <a:ext cx="2209167" cy="2193540"/>
            </a:xfrm>
            <a:prstGeom prst="rect">
              <a:avLst/>
            </a:prstGeom>
            <a:solidFill>
              <a:srgbClr val="D1E1EC">
                <a:alpha val="100000"/>
              </a:srgbClr>
            </a:solidFill>
            <a:ln w="12565" cap="flat">
              <a:solidFill>
                <a:srgbClr val="B3CD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3560884" y="1780450"/>
              <a:ext cx="0" cy="411374"/>
            </a:xfrm>
            <a:custGeom>
              <a:avLst/>
              <a:pathLst>
                <a:path w="0" h="411374">
                  <a:moveTo>
                    <a:pt x="0" y="411374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6015515" y="2668800"/>
              <a:ext cx="0" cy="411374"/>
            </a:xfrm>
            <a:custGeom>
              <a:avLst/>
              <a:pathLst>
                <a:path w="0" h="411374">
                  <a:moveTo>
                    <a:pt x="0" y="411374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pt17"/>
            <p:cNvSpPr/>
            <p:nvPr/>
          </p:nvSpPr>
          <p:spPr>
            <a:xfrm>
              <a:off x="3518662" y="1950749"/>
              <a:ext cx="84444" cy="84444"/>
            </a:xfrm>
            <a:prstGeom prst="ellipse">
              <a:avLst/>
            </a:prstGeom>
            <a:solidFill>
              <a:srgbClr val="03396C">
                <a:alpha val="100000"/>
              </a:srgbClr>
            </a:solidFill>
            <a:ln w="16690" cap="rnd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" name="pt18"/>
            <p:cNvSpPr/>
            <p:nvPr/>
          </p:nvSpPr>
          <p:spPr>
            <a:xfrm>
              <a:off x="5973293" y="2825432"/>
              <a:ext cx="84444" cy="84444"/>
            </a:xfrm>
            <a:prstGeom prst="ellipse">
              <a:avLst/>
            </a:prstGeom>
            <a:solidFill>
              <a:srgbClr val="03396C">
                <a:alpha val="100000"/>
              </a:srgbClr>
            </a:solidFill>
            <a:ln w="16690" cap="rnd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223110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0" name="tx20"/>
            <p:cNvSpPr/>
            <p:nvPr/>
          </p:nvSpPr>
          <p:spPr>
            <a:xfrm>
              <a:off x="2107400" y="5015701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1992129" y="4332355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1992129" y="3649009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23" name="tx23"/>
            <p:cNvSpPr/>
            <p:nvPr/>
          </p:nvSpPr>
          <p:spPr>
            <a:xfrm>
              <a:off x="1992129" y="2965612"/>
              <a:ext cx="172905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24" name="tx24"/>
            <p:cNvSpPr/>
            <p:nvPr/>
          </p:nvSpPr>
          <p:spPr>
            <a:xfrm>
              <a:off x="1992129" y="2282317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25" name="tx25"/>
            <p:cNvSpPr/>
            <p:nvPr/>
          </p:nvSpPr>
          <p:spPr>
            <a:xfrm>
              <a:off x="1992129" y="1598971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26" name="pl26"/>
            <p:cNvSpPr/>
            <p:nvPr/>
          </p:nvSpPr>
          <p:spPr>
            <a:xfrm>
              <a:off x="2190846" y="5054360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2190846" y="4371014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2190846" y="3687668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2190846" y="300432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190846" y="232097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2190846" y="1637631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2223110" y="5054360"/>
              <a:ext cx="5130178" cy="0"/>
            </a:xfrm>
            <a:custGeom>
              <a:avLst/>
              <a:pathLst>
                <a:path w="5130178" h="0">
                  <a:moveTo>
                    <a:pt x="0" y="0"/>
                  </a:moveTo>
                  <a:lnTo>
                    <a:pt x="5130178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2333569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3560884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88200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6015515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7242831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tx38"/>
            <p:cNvSpPr/>
            <p:nvPr/>
          </p:nvSpPr>
          <p:spPr>
            <a:xfrm>
              <a:off x="2244282" y="5110867"/>
              <a:ext cx="17857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39" name="tx39"/>
            <p:cNvSpPr/>
            <p:nvPr/>
          </p:nvSpPr>
          <p:spPr>
            <a:xfrm>
              <a:off x="3488853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4716168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5943484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7170799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43" name="tx43"/>
            <p:cNvSpPr/>
            <p:nvPr/>
          </p:nvSpPr>
          <p:spPr>
            <a:xfrm rot="-5400000">
              <a:off x="528170" y="3287613"/>
              <a:ext cx="374072" cy="95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  <p:sp>
          <p:nvSpPr>
            <p:cNvPr id="44" name="pl44"/>
            <p:cNvSpPr/>
            <p:nvPr/>
          </p:nvSpPr>
          <p:spPr>
            <a:xfrm>
              <a:off x="7656601" y="3008991"/>
              <a:ext cx="0" cy="175564"/>
            </a:xfrm>
            <a:custGeom>
              <a:avLst/>
              <a:pathLst>
                <a:path w="0" h="175564">
                  <a:moveTo>
                    <a:pt x="0" y="175564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5" name="pt45"/>
            <p:cNvSpPr/>
            <p:nvPr/>
          </p:nvSpPr>
          <p:spPr>
            <a:xfrm>
              <a:off x="7607604" y="3047776"/>
              <a:ext cx="97994" cy="97994"/>
            </a:xfrm>
            <a:prstGeom prst="ellipse">
              <a:avLst/>
            </a:prstGeom>
            <a:solidFill>
              <a:srgbClr val="03396C">
                <a:alpha val="100000"/>
              </a:srgbClr>
            </a:solidFill>
            <a:ln w="16690" cap="rnd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6" name="tx46"/>
            <p:cNvSpPr/>
            <p:nvPr/>
          </p:nvSpPr>
          <p:spPr>
            <a:xfrm>
              <a:off x="7830857" y="3031482"/>
              <a:ext cx="51816" cy="75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7890734" y="3087372"/>
              <a:ext cx="24157" cy="384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7914891" y="3086522"/>
              <a:ext cx="40344" cy="393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7955236" y="3072955"/>
              <a:ext cx="40344" cy="528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50" name="rc50"/>
            <p:cNvSpPr/>
            <p:nvPr/>
          </p:nvSpPr>
          <p:spPr>
            <a:xfrm>
              <a:off x="7555219" y="3657476"/>
              <a:ext cx="202765" cy="202765"/>
            </a:xfrm>
            <a:prstGeom prst="rect">
              <a:avLst/>
            </a:prstGeom>
            <a:solidFill>
              <a:srgbClr val="D1E1EC">
                <a:alpha val="100000"/>
              </a:srgbClr>
            </a:solidFill>
            <a:ln w="12565" cap="flat">
              <a:solidFill>
                <a:srgbClr val="B3CD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51" name="tx51"/>
            <p:cNvSpPr/>
            <p:nvPr/>
          </p:nvSpPr>
          <p:spPr>
            <a:xfrm>
              <a:off x="7830857" y="3699275"/>
              <a:ext cx="51816" cy="75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</a:t>
              </a:r>
            </a:p>
          </p:txBody>
        </p:sp>
        <p:sp>
          <p:nvSpPr>
            <p:cNvPr id="52" name="tx52"/>
            <p:cNvSpPr/>
            <p:nvPr/>
          </p:nvSpPr>
          <p:spPr>
            <a:xfrm>
              <a:off x="2223110" y="1378146"/>
              <a:ext cx="3710691" cy="14147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Posterior predictive check: continuous-trait model</a:t>
              </a:r>
            </a:p>
          </p:txBody>
        </p:sp>
        <p:sp>
          <p:nvSpPr>
            <p:cNvPr id="53" name="tx53"/>
            <p:cNvSpPr/>
            <p:nvPr/>
          </p:nvSpPr>
          <p:spPr>
            <a:xfrm>
              <a:off x="591317" y="1316651"/>
              <a:ext cx="79107" cy="77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a</a:t>
              </a:r>
            </a:p>
          </p:txBody>
        </p:sp>
        <p:sp>
          <p:nvSpPr>
            <p:cNvPr id="54" name="rc54"/>
            <p:cNvSpPr/>
            <p:nvPr/>
          </p:nvSpPr>
          <p:spPr>
            <a:xfrm>
              <a:off x="8659284" y="1616755"/>
              <a:ext cx="5130178" cy="34376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55" name="pl55"/>
            <p:cNvSpPr/>
            <p:nvPr/>
          </p:nvSpPr>
          <p:spPr>
            <a:xfrm>
              <a:off x="8769742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6" name="pl56"/>
            <p:cNvSpPr/>
            <p:nvPr/>
          </p:nvSpPr>
          <p:spPr>
            <a:xfrm>
              <a:off x="9997058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7" name="pl57"/>
            <p:cNvSpPr/>
            <p:nvPr/>
          </p:nvSpPr>
          <p:spPr>
            <a:xfrm>
              <a:off x="11224374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8" name="pl58"/>
            <p:cNvSpPr/>
            <p:nvPr/>
          </p:nvSpPr>
          <p:spPr>
            <a:xfrm>
              <a:off x="12451689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9" name="pl59"/>
            <p:cNvSpPr/>
            <p:nvPr/>
          </p:nvSpPr>
          <p:spPr>
            <a:xfrm>
              <a:off x="13679005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0" name="rc60"/>
            <p:cNvSpPr/>
            <p:nvPr/>
          </p:nvSpPr>
          <p:spPr>
            <a:xfrm>
              <a:off x="8892474" y="1959699"/>
              <a:ext cx="2209167" cy="3094661"/>
            </a:xfrm>
            <a:prstGeom prst="rect">
              <a:avLst/>
            </a:prstGeom>
            <a:solidFill>
              <a:srgbClr val="D1E1EC">
                <a:alpha val="100000"/>
              </a:srgbClr>
            </a:solidFill>
            <a:ln w="12565" cap="flat">
              <a:solidFill>
                <a:srgbClr val="B3CD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1" name="rc61"/>
            <p:cNvSpPr/>
            <p:nvPr/>
          </p:nvSpPr>
          <p:spPr>
            <a:xfrm>
              <a:off x="11347105" y="2883003"/>
              <a:ext cx="2209167" cy="2171357"/>
            </a:xfrm>
            <a:prstGeom prst="rect">
              <a:avLst/>
            </a:prstGeom>
            <a:solidFill>
              <a:srgbClr val="D1E1EC">
                <a:alpha val="100000"/>
              </a:srgbClr>
            </a:solidFill>
            <a:ln w="12565" cap="flat">
              <a:solidFill>
                <a:srgbClr val="B3CD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62" name="pl62"/>
            <p:cNvSpPr/>
            <p:nvPr/>
          </p:nvSpPr>
          <p:spPr>
            <a:xfrm>
              <a:off x="9997058" y="1780450"/>
              <a:ext cx="0" cy="427903"/>
            </a:xfrm>
            <a:custGeom>
              <a:avLst/>
              <a:pathLst>
                <a:path w="0" h="427903">
                  <a:moveTo>
                    <a:pt x="0" y="427903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3" name="pl63"/>
            <p:cNvSpPr/>
            <p:nvPr/>
          </p:nvSpPr>
          <p:spPr>
            <a:xfrm>
              <a:off x="12451689" y="2634348"/>
              <a:ext cx="0" cy="427903"/>
            </a:xfrm>
            <a:custGeom>
              <a:avLst/>
              <a:pathLst>
                <a:path w="0" h="427903">
                  <a:moveTo>
                    <a:pt x="0" y="427903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4" name="pt64"/>
            <p:cNvSpPr/>
            <p:nvPr/>
          </p:nvSpPr>
          <p:spPr>
            <a:xfrm>
              <a:off x="9954836" y="1914293"/>
              <a:ext cx="84444" cy="84444"/>
            </a:xfrm>
            <a:prstGeom prst="ellipse">
              <a:avLst/>
            </a:prstGeom>
            <a:solidFill>
              <a:srgbClr val="03396C">
                <a:alpha val="100000"/>
              </a:srgbClr>
            </a:solidFill>
            <a:ln w="16690" cap="rnd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5" name="pt65"/>
            <p:cNvSpPr/>
            <p:nvPr/>
          </p:nvSpPr>
          <p:spPr>
            <a:xfrm>
              <a:off x="12409467" y="2843965"/>
              <a:ext cx="84444" cy="84444"/>
            </a:xfrm>
            <a:prstGeom prst="ellipse">
              <a:avLst/>
            </a:prstGeom>
            <a:solidFill>
              <a:srgbClr val="03396C">
                <a:alpha val="100000"/>
              </a:srgbClr>
            </a:solidFill>
            <a:ln w="16690" cap="rnd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6" name="pl66"/>
            <p:cNvSpPr/>
            <p:nvPr/>
          </p:nvSpPr>
          <p:spPr>
            <a:xfrm>
              <a:off x="8659284" y="1616755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7" name="tx67"/>
            <p:cNvSpPr/>
            <p:nvPr/>
          </p:nvSpPr>
          <p:spPr>
            <a:xfrm>
              <a:off x="8543574" y="5015701"/>
              <a:ext cx="5763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</a:t>
              </a:r>
            </a:p>
          </p:txBody>
        </p:sp>
        <p:sp>
          <p:nvSpPr>
            <p:cNvPr id="68" name="tx68"/>
            <p:cNvSpPr/>
            <p:nvPr/>
          </p:nvSpPr>
          <p:spPr>
            <a:xfrm>
              <a:off x="8428303" y="4378939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100</a:t>
              </a:r>
            </a:p>
          </p:txBody>
        </p:sp>
        <p:sp>
          <p:nvSpPr>
            <p:cNvPr id="69" name="tx69"/>
            <p:cNvSpPr/>
            <p:nvPr/>
          </p:nvSpPr>
          <p:spPr>
            <a:xfrm>
              <a:off x="8428303" y="3742177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200</a:t>
              </a:r>
            </a:p>
          </p:txBody>
        </p:sp>
        <p:sp>
          <p:nvSpPr>
            <p:cNvPr id="70" name="tx70"/>
            <p:cNvSpPr/>
            <p:nvPr/>
          </p:nvSpPr>
          <p:spPr>
            <a:xfrm>
              <a:off x="8428303" y="3105365"/>
              <a:ext cx="172905" cy="7580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300</a:t>
              </a:r>
            </a:p>
          </p:txBody>
        </p:sp>
        <p:sp>
          <p:nvSpPr>
            <p:cNvPr id="71" name="tx71"/>
            <p:cNvSpPr/>
            <p:nvPr/>
          </p:nvSpPr>
          <p:spPr>
            <a:xfrm>
              <a:off x="8428303" y="2468654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400</a:t>
              </a:r>
            </a:p>
          </p:txBody>
        </p:sp>
        <p:sp>
          <p:nvSpPr>
            <p:cNvPr id="72" name="tx72"/>
            <p:cNvSpPr/>
            <p:nvPr/>
          </p:nvSpPr>
          <p:spPr>
            <a:xfrm>
              <a:off x="8428303" y="1831893"/>
              <a:ext cx="172905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500</a:t>
              </a:r>
            </a:p>
          </p:txBody>
        </p:sp>
        <p:sp>
          <p:nvSpPr>
            <p:cNvPr id="73" name="pl73"/>
            <p:cNvSpPr/>
            <p:nvPr/>
          </p:nvSpPr>
          <p:spPr>
            <a:xfrm>
              <a:off x="8627020" y="5054360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4" name="pl74"/>
            <p:cNvSpPr/>
            <p:nvPr/>
          </p:nvSpPr>
          <p:spPr>
            <a:xfrm>
              <a:off x="8627020" y="4417599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5" name="pl75"/>
            <p:cNvSpPr/>
            <p:nvPr/>
          </p:nvSpPr>
          <p:spPr>
            <a:xfrm>
              <a:off x="8627020" y="378083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6" name="pl76"/>
            <p:cNvSpPr/>
            <p:nvPr/>
          </p:nvSpPr>
          <p:spPr>
            <a:xfrm>
              <a:off x="8627020" y="3144075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7" name="pl77"/>
            <p:cNvSpPr/>
            <p:nvPr/>
          </p:nvSpPr>
          <p:spPr>
            <a:xfrm>
              <a:off x="8627020" y="2507314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8" name="pl78"/>
            <p:cNvSpPr/>
            <p:nvPr/>
          </p:nvSpPr>
          <p:spPr>
            <a:xfrm>
              <a:off x="8627020" y="187055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79" name="pl79"/>
            <p:cNvSpPr/>
            <p:nvPr/>
          </p:nvSpPr>
          <p:spPr>
            <a:xfrm>
              <a:off x="8659284" y="5054360"/>
              <a:ext cx="5130178" cy="0"/>
            </a:xfrm>
            <a:custGeom>
              <a:avLst/>
              <a:pathLst>
                <a:path w="5130178" h="0">
                  <a:moveTo>
                    <a:pt x="0" y="0"/>
                  </a:moveTo>
                  <a:lnTo>
                    <a:pt x="5130178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0" name="pl80"/>
            <p:cNvSpPr/>
            <p:nvPr/>
          </p:nvSpPr>
          <p:spPr>
            <a:xfrm>
              <a:off x="8769742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1" name="pl81"/>
            <p:cNvSpPr/>
            <p:nvPr/>
          </p:nvSpPr>
          <p:spPr>
            <a:xfrm>
              <a:off x="9997058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2" name="pl82"/>
            <p:cNvSpPr/>
            <p:nvPr/>
          </p:nvSpPr>
          <p:spPr>
            <a:xfrm>
              <a:off x="11224374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3" name="pl83"/>
            <p:cNvSpPr/>
            <p:nvPr/>
          </p:nvSpPr>
          <p:spPr>
            <a:xfrm>
              <a:off x="12451689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4" name="pl84"/>
            <p:cNvSpPr/>
            <p:nvPr/>
          </p:nvSpPr>
          <p:spPr>
            <a:xfrm>
              <a:off x="13679005" y="5054360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85" name="tx85"/>
            <p:cNvSpPr/>
            <p:nvPr/>
          </p:nvSpPr>
          <p:spPr>
            <a:xfrm>
              <a:off x="8680456" y="5110867"/>
              <a:ext cx="17857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-0.5</a:t>
              </a:r>
            </a:p>
          </p:txBody>
        </p:sp>
        <p:sp>
          <p:nvSpPr>
            <p:cNvPr id="86" name="tx86"/>
            <p:cNvSpPr/>
            <p:nvPr/>
          </p:nvSpPr>
          <p:spPr>
            <a:xfrm>
              <a:off x="9925027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0.0</a:t>
              </a:r>
            </a:p>
          </p:txBody>
        </p:sp>
        <p:sp>
          <p:nvSpPr>
            <p:cNvPr id="87" name="tx87"/>
            <p:cNvSpPr/>
            <p:nvPr/>
          </p:nvSpPr>
          <p:spPr>
            <a:xfrm>
              <a:off x="11152342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0.5</a:t>
              </a:r>
            </a:p>
          </p:txBody>
        </p:sp>
        <p:sp>
          <p:nvSpPr>
            <p:cNvPr id="88" name="tx88"/>
            <p:cNvSpPr/>
            <p:nvPr/>
          </p:nvSpPr>
          <p:spPr>
            <a:xfrm>
              <a:off x="12379658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</a:t>
              </a:r>
            </a:p>
          </p:txBody>
        </p:sp>
        <p:sp>
          <p:nvSpPr>
            <p:cNvPr id="89" name="tx89"/>
            <p:cNvSpPr/>
            <p:nvPr/>
          </p:nvSpPr>
          <p:spPr>
            <a:xfrm>
              <a:off x="13606973" y="5110867"/>
              <a:ext cx="144062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1.5</a:t>
              </a:r>
            </a:p>
          </p:txBody>
        </p:sp>
        <p:sp>
          <p:nvSpPr>
            <p:cNvPr id="90" name="tx90"/>
            <p:cNvSpPr/>
            <p:nvPr/>
          </p:nvSpPr>
          <p:spPr>
            <a:xfrm rot="-5400000">
              <a:off x="8133797" y="3287613"/>
              <a:ext cx="374072" cy="9588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Count</a:t>
              </a:r>
            </a:p>
          </p:txBody>
        </p:sp>
        <p:sp>
          <p:nvSpPr>
            <p:cNvPr id="91" name="pl91"/>
            <p:cNvSpPr/>
            <p:nvPr/>
          </p:nvSpPr>
          <p:spPr>
            <a:xfrm>
              <a:off x="14092775" y="3008991"/>
              <a:ext cx="0" cy="175564"/>
            </a:xfrm>
            <a:custGeom>
              <a:avLst/>
              <a:pathLst>
                <a:path w="0" h="175564">
                  <a:moveTo>
                    <a:pt x="0" y="175564"/>
                  </a:moveTo>
                  <a:lnTo>
                    <a:pt x="0" y="0"/>
                  </a:lnTo>
                </a:path>
              </a:pathLst>
            </a:custGeom>
            <a:ln w="27101" cap="flat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2" name="pt92"/>
            <p:cNvSpPr/>
            <p:nvPr/>
          </p:nvSpPr>
          <p:spPr>
            <a:xfrm>
              <a:off x="14043778" y="3047776"/>
              <a:ext cx="97994" cy="97994"/>
            </a:xfrm>
            <a:prstGeom prst="ellipse">
              <a:avLst/>
            </a:prstGeom>
            <a:solidFill>
              <a:srgbClr val="03396C">
                <a:alpha val="100000"/>
              </a:srgbClr>
            </a:solidFill>
            <a:ln w="16690" cap="rnd">
              <a:solidFill>
                <a:srgbClr val="03396C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93" name="tx93"/>
            <p:cNvSpPr/>
            <p:nvPr/>
          </p:nvSpPr>
          <p:spPr>
            <a:xfrm>
              <a:off x="14267031" y="3031482"/>
              <a:ext cx="51816" cy="75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</a:t>
              </a:r>
            </a:p>
          </p:txBody>
        </p:sp>
        <p:sp>
          <p:nvSpPr>
            <p:cNvPr id="94" name="tx94"/>
            <p:cNvSpPr/>
            <p:nvPr/>
          </p:nvSpPr>
          <p:spPr>
            <a:xfrm>
              <a:off x="14326908" y="3087372"/>
              <a:ext cx="24157" cy="3846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r</a:t>
              </a:r>
            </a:p>
          </p:txBody>
        </p:sp>
        <p:sp>
          <p:nvSpPr>
            <p:cNvPr id="95" name="tx95"/>
            <p:cNvSpPr/>
            <p:nvPr/>
          </p:nvSpPr>
          <p:spPr>
            <a:xfrm>
              <a:off x="14351065" y="3086522"/>
              <a:ext cx="40344" cy="3931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</a:t>
              </a:r>
            </a:p>
          </p:txBody>
        </p:sp>
        <p:sp>
          <p:nvSpPr>
            <p:cNvPr id="96" name="tx96"/>
            <p:cNvSpPr/>
            <p:nvPr/>
          </p:nvSpPr>
          <p:spPr>
            <a:xfrm>
              <a:off x="14391410" y="3072955"/>
              <a:ext cx="40344" cy="5288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571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57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</a:t>
              </a:r>
            </a:p>
          </p:txBody>
        </p:sp>
        <p:sp>
          <p:nvSpPr>
            <p:cNvPr id="97" name="rc97"/>
            <p:cNvSpPr/>
            <p:nvPr/>
          </p:nvSpPr>
          <p:spPr>
            <a:xfrm>
              <a:off x="13991393" y="3657476"/>
              <a:ext cx="202765" cy="202765"/>
            </a:xfrm>
            <a:prstGeom prst="rect">
              <a:avLst/>
            </a:prstGeom>
            <a:solidFill>
              <a:srgbClr val="D1E1EC">
                <a:alpha val="100000"/>
              </a:srgbClr>
            </a:solidFill>
            <a:ln w="12565" cap="flat">
              <a:solidFill>
                <a:srgbClr val="B3CDE0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98" name="tx98"/>
            <p:cNvSpPr/>
            <p:nvPr/>
          </p:nvSpPr>
          <p:spPr>
            <a:xfrm>
              <a:off x="14267031" y="3699275"/>
              <a:ext cx="51816" cy="7554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 i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y</a:t>
              </a:r>
            </a:p>
          </p:txBody>
        </p:sp>
        <p:sp>
          <p:nvSpPr>
            <p:cNvPr id="99" name="tx99"/>
            <p:cNvSpPr/>
            <p:nvPr/>
          </p:nvSpPr>
          <p:spPr>
            <a:xfrm>
              <a:off x="8659284" y="1376104"/>
              <a:ext cx="3693972" cy="14351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Posterior predictive check: categorical-trait model</a:t>
              </a:r>
            </a:p>
          </p:txBody>
        </p:sp>
        <p:sp>
          <p:nvSpPr>
            <p:cNvPr id="100" name="tx100"/>
            <p:cNvSpPr/>
            <p:nvPr/>
          </p:nvSpPr>
          <p:spPr>
            <a:xfrm>
              <a:off x="8189165" y="1290258"/>
              <a:ext cx="86885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</a:t>
              </a:r>
            </a:p>
          </p:txBody>
        </p:sp>
        <p:sp>
          <p:nvSpPr>
            <p:cNvPr id="101" name="rc101"/>
            <p:cNvSpPr/>
            <p:nvPr/>
          </p:nvSpPr>
          <p:spPr>
            <a:xfrm>
              <a:off x="526789" y="5272955"/>
              <a:ext cx="6367180" cy="42127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2" name="rc102"/>
            <p:cNvSpPr/>
            <p:nvPr/>
          </p:nvSpPr>
          <p:spPr>
            <a:xfrm>
              <a:off x="6893969" y="5272955"/>
              <a:ext cx="7666841" cy="4212777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256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3" name="rc103"/>
            <p:cNvSpPr/>
            <p:nvPr/>
          </p:nvSpPr>
          <p:spPr>
            <a:xfrm>
              <a:off x="2223110" y="5677279"/>
              <a:ext cx="4606331" cy="34376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4" name="pl104"/>
            <p:cNvSpPr/>
            <p:nvPr/>
          </p:nvSpPr>
          <p:spPr>
            <a:xfrm>
              <a:off x="2467738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5" name="pl105"/>
            <p:cNvSpPr/>
            <p:nvPr/>
          </p:nvSpPr>
          <p:spPr>
            <a:xfrm>
              <a:off x="3505819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6" name="pl106"/>
            <p:cNvSpPr/>
            <p:nvPr/>
          </p:nvSpPr>
          <p:spPr>
            <a:xfrm>
              <a:off x="4543900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7" name="pl107"/>
            <p:cNvSpPr/>
            <p:nvPr/>
          </p:nvSpPr>
          <p:spPr>
            <a:xfrm>
              <a:off x="5581982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8" name="pl108"/>
            <p:cNvSpPr/>
            <p:nvPr/>
          </p:nvSpPr>
          <p:spPr>
            <a:xfrm>
              <a:off x="6620063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09" name="pl109"/>
            <p:cNvSpPr/>
            <p:nvPr/>
          </p:nvSpPr>
          <p:spPr>
            <a:xfrm>
              <a:off x="6620063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970" cap="flat">
              <a:solidFill>
                <a:srgbClr val="8C2D04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10" name="pt110"/>
            <p:cNvSpPr/>
            <p:nvPr/>
          </p:nvSpPr>
          <p:spPr>
            <a:xfrm>
              <a:off x="3142166" y="6404497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1" name="pt111"/>
            <p:cNvSpPr/>
            <p:nvPr/>
          </p:nvSpPr>
          <p:spPr>
            <a:xfrm>
              <a:off x="2395795" y="8791723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2" name="pt112"/>
            <p:cNvSpPr/>
            <p:nvPr/>
          </p:nvSpPr>
          <p:spPr>
            <a:xfrm>
              <a:off x="2890484" y="6881943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3" name="pt113"/>
            <p:cNvSpPr/>
            <p:nvPr/>
          </p:nvSpPr>
          <p:spPr>
            <a:xfrm>
              <a:off x="2867113" y="735938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4" name="pt114"/>
            <p:cNvSpPr/>
            <p:nvPr/>
          </p:nvSpPr>
          <p:spPr>
            <a:xfrm>
              <a:off x="2772926" y="7836833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5" name="pt115"/>
            <p:cNvSpPr/>
            <p:nvPr/>
          </p:nvSpPr>
          <p:spPr>
            <a:xfrm>
              <a:off x="2494575" y="831427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6" name="pt116"/>
            <p:cNvSpPr/>
            <p:nvPr/>
          </p:nvSpPr>
          <p:spPr>
            <a:xfrm>
              <a:off x="5261941" y="5927052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7" name="pl117"/>
            <p:cNvSpPr/>
            <p:nvPr/>
          </p:nvSpPr>
          <p:spPr>
            <a:xfrm>
              <a:off x="2223110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18" name="tx118"/>
            <p:cNvSpPr/>
            <p:nvPr/>
          </p:nvSpPr>
          <p:spPr>
            <a:xfrm>
              <a:off x="1496791" y="8769517"/>
              <a:ext cx="668244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b_z_log_mass</a:t>
              </a:r>
            </a:p>
          </p:txBody>
        </p:sp>
        <p:sp>
          <p:nvSpPr>
            <p:cNvPr id="119" name="tx119"/>
            <p:cNvSpPr/>
            <p:nvPr/>
          </p:nvSpPr>
          <p:spPr>
            <a:xfrm>
              <a:off x="1145160" y="8292072"/>
              <a:ext cx="1019874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b_z_log_n_congeners</a:t>
              </a:r>
            </a:p>
          </p:txBody>
        </p:sp>
        <p:sp>
          <p:nvSpPr>
            <p:cNvPr id="120" name="tx120"/>
            <p:cNvSpPr/>
            <p:nvPr/>
          </p:nvSpPr>
          <p:spPr>
            <a:xfrm>
              <a:off x="1231740" y="7814627"/>
              <a:ext cx="933295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b_z_log_clutch_size</a:t>
              </a:r>
            </a:p>
          </p:txBody>
        </p:sp>
        <p:sp>
          <p:nvSpPr>
            <p:cNvPr id="121" name="tx121"/>
            <p:cNvSpPr/>
            <p:nvPr/>
          </p:nvSpPr>
          <p:spPr>
            <a:xfrm>
              <a:off x="978175" y="7337182"/>
              <a:ext cx="1186859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b_z_log_range_provinces</a:t>
              </a:r>
            </a:p>
          </p:txBody>
        </p:sp>
        <p:sp>
          <p:nvSpPr>
            <p:cNvPr id="122" name="tx122"/>
            <p:cNvSpPr/>
            <p:nvPr/>
          </p:nvSpPr>
          <p:spPr>
            <a:xfrm>
              <a:off x="1588885" y="6859737"/>
              <a:ext cx="576149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b_z_log_hwi</a:t>
              </a:r>
            </a:p>
          </p:txBody>
        </p:sp>
        <p:sp>
          <p:nvSpPr>
            <p:cNvPr id="123" name="tx123"/>
            <p:cNvSpPr/>
            <p:nvPr/>
          </p:nvSpPr>
          <p:spPr>
            <a:xfrm>
              <a:off x="1646521" y="6383506"/>
              <a:ext cx="518514" cy="947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b_Intercept</a:t>
              </a:r>
            </a:p>
          </p:txBody>
        </p:sp>
        <p:sp>
          <p:nvSpPr>
            <p:cNvPr id="124" name="tx124"/>
            <p:cNvSpPr/>
            <p:nvPr/>
          </p:nvSpPr>
          <p:spPr>
            <a:xfrm>
              <a:off x="822677" y="5904846"/>
              <a:ext cx="1342358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sd_phylo_species__Intercept</a:t>
              </a:r>
            </a:p>
          </p:txBody>
        </p:sp>
        <p:sp>
          <p:nvSpPr>
            <p:cNvPr id="125" name="pl125"/>
            <p:cNvSpPr/>
            <p:nvPr/>
          </p:nvSpPr>
          <p:spPr>
            <a:xfrm>
              <a:off x="2190846" y="882841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6" name="pl126"/>
            <p:cNvSpPr/>
            <p:nvPr/>
          </p:nvSpPr>
          <p:spPr>
            <a:xfrm>
              <a:off x="2190846" y="835097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7" name="pl127"/>
            <p:cNvSpPr/>
            <p:nvPr/>
          </p:nvSpPr>
          <p:spPr>
            <a:xfrm>
              <a:off x="2190846" y="787352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8" name="pl128"/>
            <p:cNvSpPr/>
            <p:nvPr/>
          </p:nvSpPr>
          <p:spPr>
            <a:xfrm>
              <a:off x="2190846" y="739608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29" name="pl129"/>
            <p:cNvSpPr/>
            <p:nvPr/>
          </p:nvSpPr>
          <p:spPr>
            <a:xfrm>
              <a:off x="2190846" y="6918637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0" name="pl130"/>
            <p:cNvSpPr/>
            <p:nvPr/>
          </p:nvSpPr>
          <p:spPr>
            <a:xfrm>
              <a:off x="2190846" y="644119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1" name="pl131"/>
            <p:cNvSpPr/>
            <p:nvPr/>
          </p:nvSpPr>
          <p:spPr>
            <a:xfrm>
              <a:off x="2190846" y="5963746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2" name="pl132"/>
            <p:cNvSpPr/>
            <p:nvPr/>
          </p:nvSpPr>
          <p:spPr>
            <a:xfrm>
              <a:off x="2223110" y="9114885"/>
              <a:ext cx="4606331" cy="0"/>
            </a:xfrm>
            <a:custGeom>
              <a:avLst/>
              <a:pathLst>
                <a:path w="4606331" h="0">
                  <a:moveTo>
                    <a:pt x="0" y="0"/>
                  </a:moveTo>
                  <a:lnTo>
                    <a:pt x="4606331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3" name="pl133"/>
            <p:cNvSpPr/>
            <p:nvPr/>
          </p:nvSpPr>
          <p:spPr>
            <a:xfrm>
              <a:off x="2467738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4" name="pl134"/>
            <p:cNvSpPr/>
            <p:nvPr/>
          </p:nvSpPr>
          <p:spPr>
            <a:xfrm>
              <a:off x="3505819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5" name="pl135"/>
            <p:cNvSpPr/>
            <p:nvPr/>
          </p:nvSpPr>
          <p:spPr>
            <a:xfrm>
              <a:off x="4543900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6" name="pl136"/>
            <p:cNvSpPr/>
            <p:nvPr/>
          </p:nvSpPr>
          <p:spPr>
            <a:xfrm>
              <a:off x="5581982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7" name="pl137"/>
            <p:cNvSpPr/>
            <p:nvPr/>
          </p:nvSpPr>
          <p:spPr>
            <a:xfrm>
              <a:off x="6620063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38" name="tx138"/>
            <p:cNvSpPr/>
            <p:nvPr/>
          </p:nvSpPr>
          <p:spPr>
            <a:xfrm>
              <a:off x="2309254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1.0000</a:t>
              </a:r>
            </a:p>
          </p:txBody>
        </p:sp>
        <p:sp>
          <p:nvSpPr>
            <p:cNvPr id="139" name="tx139"/>
            <p:cNvSpPr/>
            <p:nvPr/>
          </p:nvSpPr>
          <p:spPr>
            <a:xfrm>
              <a:off x="3347335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1.0025</a:t>
              </a:r>
            </a:p>
          </p:txBody>
        </p:sp>
        <p:sp>
          <p:nvSpPr>
            <p:cNvPr id="140" name="tx140"/>
            <p:cNvSpPr/>
            <p:nvPr/>
          </p:nvSpPr>
          <p:spPr>
            <a:xfrm>
              <a:off x="4385416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1.0050</a:t>
              </a:r>
            </a:p>
          </p:txBody>
        </p:sp>
        <p:sp>
          <p:nvSpPr>
            <p:cNvPr id="141" name="tx141"/>
            <p:cNvSpPr/>
            <p:nvPr/>
          </p:nvSpPr>
          <p:spPr>
            <a:xfrm>
              <a:off x="5423497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1.0075</a:t>
              </a:r>
            </a:p>
          </p:txBody>
        </p:sp>
        <p:sp>
          <p:nvSpPr>
            <p:cNvPr id="142" name="tx142"/>
            <p:cNvSpPr/>
            <p:nvPr/>
          </p:nvSpPr>
          <p:spPr>
            <a:xfrm>
              <a:off x="6461578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1.0100</a:t>
              </a:r>
            </a:p>
          </p:txBody>
        </p:sp>
        <p:sp>
          <p:nvSpPr>
            <p:cNvPr id="143" name="tx143"/>
            <p:cNvSpPr/>
            <p:nvPr/>
          </p:nvSpPr>
          <p:spPr>
            <a:xfrm>
              <a:off x="4382346" y="9299697"/>
              <a:ext cx="287859" cy="94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Rhat</a:t>
              </a:r>
            </a:p>
          </p:txBody>
        </p:sp>
        <p:sp>
          <p:nvSpPr>
            <p:cNvPr id="144" name="tx144"/>
            <p:cNvSpPr/>
            <p:nvPr/>
          </p:nvSpPr>
          <p:spPr>
            <a:xfrm>
              <a:off x="2223110" y="5434737"/>
              <a:ext cx="3228244" cy="1454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Convergence diagnostic: continuous model</a:t>
              </a:r>
            </a:p>
          </p:txBody>
        </p:sp>
        <p:sp>
          <p:nvSpPr>
            <p:cNvPr id="145" name="tx145"/>
            <p:cNvSpPr/>
            <p:nvPr/>
          </p:nvSpPr>
          <p:spPr>
            <a:xfrm>
              <a:off x="591317" y="5377175"/>
              <a:ext cx="79107" cy="770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</a:t>
              </a:r>
            </a:p>
          </p:txBody>
        </p:sp>
        <p:sp>
          <p:nvSpPr>
            <p:cNvPr id="146" name="rc146"/>
            <p:cNvSpPr/>
            <p:nvPr/>
          </p:nvSpPr>
          <p:spPr>
            <a:xfrm>
              <a:off x="9183132" y="5677279"/>
              <a:ext cx="4606331" cy="3437605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7" name="pl147"/>
            <p:cNvSpPr/>
            <p:nvPr/>
          </p:nvSpPr>
          <p:spPr>
            <a:xfrm>
              <a:off x="9273764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8" name="pl148"/>
            <p:cNvSpPr/>
            <p:nvPr/>
          </p:nvSpPr>
          <p:spPr>
            <a:xfrm>
              <a:off x="10350344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49" name="pl149"/>
            <p:cNvSpPr/>
            <p:nvPr/>
          </p:nvSpPr>
          <p:spPr>
            <a:xfrm>
              <a:off x="11426924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0" name="pl150"/>
            <p:cNvSpPr/>
            <p:nvPr/>
          </p:nvSpPr>
          <p:spPr>
            <a:xfrm>
              <a:off x="12503504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1" name="pl151"/>
            <p:cNvSpPr/>
            <p:nvPr/>
          </p:nvSpPr>
          <p:spPr>
            <a:xfrm>
              <a:off x="13580084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8130" cap="flat">
              <a:solidFill>
                <a:srgbClr val="B0B0B0">
                  <a:alpha val="34901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2" name="pl152"/>
            <p:cNvSpPr/>
            <p:nvPr/>
          </p:nvSpPr>
          <p:spPr>
            <a:xfrm>
              <a:off x="13580084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8970" cap="flat">
              <a:solidFill>
                <a:srgbClr val="8C2D04">
                  <a:alpha val="100000"/>
                </a:srgbClr>
              </a:solidFill>
              <a:prstDash val="dash"/>
              <a:round/>
            </a:ln>
          </p:spPr>
          <p:txBody>
            <a:bodyPr/>
            <a:lstStyle/>
            <a:p/>
          </p:txBody>
        </p:sp>
        <p:sp>
          <p:nvSpPr>
            <p:cNvPr id="153" name="pt153"/>
            <p:cNvSpPr/>
            <p:nvPr/>
          </p:nvSpPr>
          <p:spPr>
            <a:xfrm>
              <a:off x="9416293" y="853895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4" name="pt154"/>
            <p:cNvSpPr/>
            <p:nvPr/>
          </p:nvSpPr>
          <p:spPr>
            <a:xfrm>
              <a:off x="9694029" y="752789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5" name="pt155"/>
            <p:cNvSpPr/>
            <p:nvPr/>
          </p:nvSpPr>
          <p:spPr>
            <a:xfrm>
              <a:off x="9810533" y="6179817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6" name="pt156"/>
            <p:cNvSpPr/>
            <p:nvPr/>
          </p:nvSpPr>
          <p:spPr>
            <a:xfrm>
              <a:off x="9458587" y="820193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7" name="pt157"/>
            <p:cNvSpPr/>
            <p:nvPr/>
          </p:nvSpPr>
          <p:spPr>
            <a:xfrm>
              <a:off x="9775646" y="6516837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8" name="pt158"/>
            <p:cNvSpPr/>
            <p:nvPr/>
          </p:nvSpPr>
          <p:spPr>
            <a:xfrm>
              <a:off x="9355816" y="887597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59" name="pt159"/>
            <p:cNvSpPr/>
            <p:nvPr/>
          </p:nvSpPr>
          <p:spPr>
            <a:xfrm>
              <a:off x="9770268" y="685385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0" name="pt160"/>
            <p:cNvSpPr/>
            <p:nvPr/>
          </p:nvSpPr>
          <p:spPr>
            <a:xfrm>
              <a:off x="9752163" y="719087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1" name="pt161"/>
            <p:cNvSpPr/>
            <p:nvPr/>
          </p:nvSpPr>
          <p:spPr>
            <a:xfrm>
              <a:off x="9468498" y="7864918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2" name="pt162"/>
            <p:cNvSpPr/>
            <p:nvPr/>
          </p:nvSpPr>
          <p:spPr>
            <a:xfrm>
              <a:off x="12299209" y="5842797"/>
              <a:ext cx="73388" cy="73388"/>
            </a:xfrm>
            <a:prstGeom prst="ellipse">
              <a:avLst/>
            </a:prstGeom>
            <a:solidFill>
              <a:srgbClr val="2C7FB8">
                <a:alpha val="100000"/>
              </a:srgbClr>
            </a:solidFill>
            <a:ln w="8345" cap="rnd">
              <a:solidFill>
                <a:srgbClr val="2C7FB8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3" name="pl163"/>
            <p:cNvSpPr/>
            <p:nvPr/>
          </p:nvSpPr>
          <p:spPr>
            <a:xfrm>
              <a:off x="9183132" y="5677279"/>
              <a:ext cx="0" cy="3437605"/>
            </a:xfrm>
            <a:custGeom>
              <a:avLst/>
              <a:pathLst>
                <a:path w="0" h="3437605">
                  <a:moveTo>
                    <a:pt x="0" y="3437605"/>
                  </a:moveTo>
                  <a:lnTo>
                    <a:pt x="0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64" name="tx164"/>
            <p:cNvSpPr/>
            <p:nvPr/>
          </p:nvSpPr>
          <p:spPr>
            <a:xfrm>
              <a:off x="7800004" y="8853772"/>
              <a:ext cx="1325052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b_diet_group_avFruit_nectar</a:t>
              </a:r>
            </a:p>
          </p:txBody>
        </p:sp>
        <p:sp>
          <p:nvSpPr>
            <p:cNvPr id="165" name="tx165"/>
            <p:cNvSpPr/>
            <p:nvPr/>
          </p:nvSpPr>
          <p:spPr>
            <a:xfrm>
              <a:off x="8606543" y="8517967"/>
              <a:ext cx="518514" cy="947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b_Intercept</a:t>
              </a:r>
            </a:p>
          </p:txBody>
        </p:sp>
        <p:sp>
          <p:nvSpPr>
            <p:cNvPr id="166" name="tx166"/>
            <p:cNvSpPr/>
            <p:nvPr/>
          </p:nvSpPr>
          <p:spPr>
            <a:xfrm>
              <a:off x="7045383" y="8179732"/>
              <a:ext cx="2079673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b_migration_class_avLong_distance_migrant</a:t>
              </a:r>
            </a:p>
          </p:txBody>
        </p:sp>
        <p:sp>
          <p:nvSpPr>
            <p:cNvPr id="167" name="tx167"/>
            <p:cNvSpPr/>
            <p:nvPr/>
          </p:nvSpPr>
          <p:spPr>
            <a:xfrm>
              <a:off x="7477723" y="7841447"/>
              <a:ext cx="1647333" cy="9725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b_forest_associationForest_primary</a:t>
              </a:r>
            </a:p>
          </p:txBody>
        </p:sp>
        <p:sp>
          <p:nvSpPr>
            <p:cNvPr id="168" name="tx168"/>
            <p:cNvSpPr/>
            <p:nvPr/>
          </p:nvSpPr>
          <p:spPr>
            <a:xfrm>
              <a:off x="7880764" y="7506906"/>
              <a:ext cx="1244292" cy="947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b_endemic_statusEndemic</a:t>
              </a:r>
            </a:p>
          </p:txBody>
        </p:sp>
        <p:sp>
          <p:nvSpPr>
            <p:cNvPr id="169" name="tx169"/>
            <p:cNvSpPr/>
            <p:nvPr/>
          </p:nvSpPr>
          <p:spPr>
            <a:xfrm>
              <a:off x="7477217" y="7168672"/>
              <a:ext cx="1647839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b_diet_group_avVertebrate_aquatic</a:t>
              </a:r>
            </a:p>
          </p:txBody>
        </p:sp>
        <p:sp>
          <p:nvSpPr>
            <p:cNvPr id="170" name="tx170"/>
            <p:cNvSpPr/>
            <p:nvPr/>
          </p:nvSpPr>
          <p:spPr>
            <a:xfrm>
              <a:off x="7834363" y="6831652"/>
              <a:ext cx="1290694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b_diet_group_avPlant_seed</a:t>
              </a:r>
            </a:p>
          </p:txBody>
        </p:sp>
        <p:sp>
          <p:nvSpPr>
            <p:cNvPr id="171" name="tx171"/>
            <p:cNvSpPr/>
            <p:nvPr/>
          </p:nvSpPr>
          <p:spPr>
            <a:xfrm>
              <a:off x="7903737" y="6493316"/>
              <a:ext cx="1221319" cy="9730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b_diet_group_avOmnivore</a:t>
              </a:r>
            </a:p>
          </p:txBody>
        </p:sp>
        <p:sp>
          <p:nvSpPr>
            <p:cNvPr id="172" name="tx172"/>
            <p:cNvSpPr/>
            <p:nvPr/>
          </p:nvSpPr>
          <p:spPr>
            <a:xfrm>
              <a:off x="7425806" y="6157611"/>
              <a:ext cx="1699251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b_migration_class_avPartial_migrant</a:t>
              </a:r>
            </a:p>
          </p:txBody>
        </p:sp>
        <p:sp>
          <p:nvSpPr>
            <p:cNvPr id="173" name="tx173"/>
            <p:cNvSpPr/>
            <p:nvPr/>
          </p:nvSpPr>
          <p:spPr>
            <a:xfrm>
              <a:off x="7782698" y="5820591"/>
              <a:ext cx="1342358" cy="9599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sd_phylo_species__Intercept</a:t>
              </a:r>
            </a:p>
          </p:txBody>
        </p:sp>
        <p:sp>
          <p:nvSpPr>
            <p:cNvPr id="174" name="pl174"/>
            <p:cNvSpPr/>
            <p:nvPr/>
          </p:nvSpPr>
          <p:spPr>
            <a:xfrm>
              <a:off x="9150868" y="8912673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5" name="pl175"/>
            <p:cNvSpPr/>
            <p:nvPr/>
          </p:nvSpPr>
          <p:spPr>
            <a:xfrm>
              <a:off x="9150868" y="857565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6" name="pl176"/>
            <p:cNvSpPr/>
            <p:nvPr/>
          </p:nvSpPr>
          <p:spPr>
            <a:xfrm>
              <a:off x="9150868" y="823863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7" name="pl177"/>
            <p:cNvSpPr/>
            <p:nvPr/>
          </p:nvSpPr>
          <p:spPr>
            <a:xfrm>
              <a:off x="9150868" y="790161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8" name="pl178"/>
            <p:cNvSpPr/>
            <p:nvPr/>
          </p:nvSpPr>
          <p:spPr>
            <a:xfrm>
              <a:off x="9150868" y="756459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9" name="pl179"/>
            <p:cNvSpPr/>
            <p:nvPr/>
          </p:nvSpPr>
          <p:spPr>
            <a:xfrm>
              <a:off x="9150868" y="722757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0" name="pl180"/>
            <p:cNvSpPr/>
            <p:nvPr/>
          </p:nvSpPr>
          <p:spPr>
            <a:xfrm>
              <a:off x="9150868" y="689055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1" name="pl181"/>
            <p:cNvSpPr/>
            <p:nvPr/>
          </p:nvSpPr>
          <p:spPr>
            <a:xfrm>
              <a:off x="9150868" y="655353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2" name="pl182"/>
            <p:cNvSpPr/>
            <p:nvPr/>
          </p:nvSpPr>
          <p:spPr>
            <a:xfrm>
              <a:off x="9150868" y="6216512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3" name="pl183"/>
            <p:cNvSpPr/>
            <p:nvPr/>
          </p:nvSpPr>
          <p:spPr>
            <a:xfrm>
              <a:off x="9150868" y="5879491"/>
              <a:ext cx="32264" cy="0"/>
            </a:xfrm>
            <a:custGeom>
              <a:avLst/>
              <a:pathLst>
                <a:path w="32264" h="0">
                  <a:moveTo>
                    <a:pt x="0" y="0"/>
                  </a:moveTo>
                  <a:lnTo>
                    <a:pt x="32264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4" name="pl184"/>
            <p:cNvSpPr/>
            <p:nvPr/>
          </p:nvSpPr>
          <p:spPr>
            <a:xfrm>
              <a:off x="9183132" y="9114885"/>
              <a:ext cx="4606331" cy="0"/>
            </a:xfrm>
            <a:custGeom>
              <a:avLst/>
              <a:pathLst>
                <a:path w="4606331" h="0">
                  <a:moveTo>
                    <a:pt x="0" y="0"/>
                  </a:moveTo>
                  <a:lnTo>
                    <a:pt x="4606331" y="0"/>
                  </a:lnTo>
                </a:path>
              </a:pathLst>
            </a:custGeom>
            <a:ln w="12565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5" name="pl185"/>
            <p:cNvSpPr/>
            <p:nvPr/>
          </p:nvSpPr>
          <p:spPr>
            <a:xfrm>
              <a:off x="9273764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6" name="pl186"/>
            <p:cNvSpPr/>
            <p:nvPr/>
          </p:nvSpPr>
          <p:spPr>
            <a:xfrm>
              <a:off x="10350344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7" name="pl187"/>
            <p:cNvSpPr/>
            <p:nvPr/>
          </p:nvSpPr>
          <p:spPr>
            <a:xfrm>
              <a:off x="11426924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8" name="pl188"/>
            <p:cNvSpPr/>
            <p:nvPr/>
          </p:nvSpPr>
          <p:spPr>
            <a:xfrm>
              <a:off x="12503504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89" name="pl189"/>
            <p:cNvSpPr/>
            <p:nvPr/>
          </p:nvSpPr>
          <p:spPr>
            <a:xfrm>
              <a:off x="13580084" y="9114885"/>
              <a:ext cx="0" cy="32264"/>
            </a:xfrm>
            <a:custGeom>
              <a:avLst/>
              <a:pathLst>
                <a:path w="0" h="32264">
                  <a:moveTo>
                    <a:pt x="0" y="32264"/>
                  </a:moveTo>
                  <a:lnTo>
                    <a:pt x="0" y="0"/>
                  </a:lnTo>
                </a:path>
              </a:pathLst>
            </a:custGeom>
            <a:ln w="12565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90" name="tx190"/>
            <p:cNvSpPr/>
            <p:nvPr/>
          </p:nvSpPr>
          <p:spPr>
            <a:xfrm>
              <a:off x="9115280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1.0000</a:t>
              </a:r>
            </a:p>
          </p:txBody>
        </p:sp>
        <p:sp>
          <p:nvSpPr>
            <p:cNvPr id="191" name="tx191"/>
            <p:cNvSpPr/>
            <p:nvPr/>
          </p:nvSpPr>
          <p:spPr>
            <a:xfrm>
              <a:off x="10191860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1.0025</a:t>
              </a:r>
            </a:p>
          </p:txBody>
        </p:sp>
        <p:sp>
          <p:nvSpPr>
            <p:cNvPr id="192" name="tx192"/>
            <p:cNvSpPr/>
            <p:nvPr/>
          </p:nvSpPr>
          <p:spPr>
            <a:xfrm>
              <a:off x="11268440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1.0050</a:t>
              </a:r>
            </a:p>
          </p:txBody>
        </p:sp>
        <p:sp>
          <p:nvSpPr>
            <p:cNvPr id="193" name="tx193"/>
            <p:cNvSpPr/>
            <p:nvPr/>
          </p:nvSpPr>
          <p:spPr>
            <a:xfrm>
              <a:off x="12345020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1.0075</a:t>
              </a:r>
            </a:p>
          </p:txBody>
        </p:sp>
        <p:sp>
          <p:nvSpPr>
            <p:cNvPr id="194" name="tx194"/>
            <p:cNvSpPr/>
            <p:nvPr/>
          </p:nvSpPr>
          <p:spPr>
            <a:xfrm>
              <a:off x="13421600" y="9171391"/>
              <a:ext cx="316968" cy="75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1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16">
                  <a:solidFill>
                    <a:srgbClr val="1A1A1A">
                      <a:alpha val="100000"/>
                    </a:srgbClr>
                  </a:solidFill>
                  <a:latin typeface="Arial"/>
                  <a:cs typeface="Arial"/>
                </a:rPr>
                <a:t>1.0100</a:t>
              </a:r>
            </a:p>
          </p:txBody>
        </p:sp>
        <p:sp>
          <p:nvSpPr>
            <p:cNvPr id="195" name="tx195"/>
            <p:cNvSpPr/>
            <p:nvPr/>
          </p:nvSpPr>
          <p:spPr>
            <a:xfrm>
              <a:off x="11342368" y="9299697"/>
              <a:ext cx="287859" cy="9424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019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019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Rhat</a:t>
              </a:r>
            </a:p>
          </p:txBody>
        </p:sp>
        <p:sp>
          <p:nvSpPr>
            <p:cNvPr id="196" name="tx196"/>
            <p:cNvSpPr/>
            <p:nvPr/>
          </p:nvSpPr>
          <p:spPr>
            <a:xfrm>
              <a:off x="9183132" y="5434737"/>
              <a:ext cx="3211524" cy="14540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20" b="1">
                  <a:solidFill>
                    <a:srgbClr val="111111">
                      <a:alpha val="100000"/>
                    </a:srgbClr>
                  </a:solidFill>
                  <a:latin typeface="Arial"/>
                  <a:cs typeface="Arial"/>
                </a:rPr>
                <a:t>Convergence diagnostic: categorical model</a:t>
              </a:r>
            </a:p>
          </p:txBody>
        </p:sp>
        <p:sp>
          <p:nvSpPr>
            <p:cNvPr id="197" name="tx197"/>
            <p:cNvSpPr/>
            <p:nvPr/>
          </p:nvSpPr>
          <p:spPr>
            <a:xfrm>
              <a:off x="6958497" y="5350783"/>
              <a:ext cx="86885" cy="10348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2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2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d</a:t>
              </a: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</TotalTime>
  <Words>0</Words>
  <Application>Microsoft Office PowerPoint</Application>
  <PresentationFormat>Custom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>PowerPoint Presentation</dc:title>
  <dc:creator>Tom Wenseleers</dc:creator>
  <cp:lastModifiedBy>dingchenchen</cp:lastModifiedBy>
  <cp:revision>7</cp:revision>
  <dcterms:created xsi:type="dcterms:W3CDTF">2015-07-14T21:05:00Z</dcterms:created>
  <dcterms:modified xsi:type="dcterms:W3CDTF">2026-03-22T13:45:55Z</dcterms:modified>
</cp:coreProperties>
</file>