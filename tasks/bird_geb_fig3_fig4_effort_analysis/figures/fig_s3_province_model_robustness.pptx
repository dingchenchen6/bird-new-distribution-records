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60120" y="1325721"/>
            <a:ext cx="13167360" cy="8046720"/>
            <a:chOff x="960120" y="1325721"/>
            <a:chExt cx="13167360" cy="8046720"/>
          </a:xfrm>
        </p:grpSpPr>
        <p:sp>
          <p:nvSpPr>
            <p:cNvPr id="3" name="rc3"/>
            <p:cNvSpPr/>
            <p:nvPr/>
          </p:nvSpPr>
          <p:spPr>
            <a:xfrm>
              <a:off x="960119" y="1325721"/>
              <a:ext cx="13167360" cy="80467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60120" y="1325721"/>
              <a:ext cx="13167359" cy="804671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029709" y="1395310"/>
              <a:ext cx="6510201" cy="395377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56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7539910" y="1395310"/>
              <a:ext cx="6517980" cy="395377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56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2256505" y="1591591"/>
              <a:ext cx="5218876" cy="33866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493727" y="1591591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726958" y="1591591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960189" y="1591591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193421" y="1591591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426652" y="1591591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493727" y="1591591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6E6E6E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7238160" y="4535365"/>
              <a:ext cx="0" cy="104204"/>
            </a:xfrm>
            <a:custGeom>
              <a:avLst/>
              <a:pathLst>
                <a:path w="0" h="104204">
                  <a:moveTo>
                    <a:pt x="0" y="104204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FB9A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954506" y="4587467"/>
              <a:ext cx="3283654" cy="0"/>
            </a:xfrm>
            <a:custGeom>
              <a:avLst/>
              <a:pathLst>
                <a:path w="3283654" h="0">
                  <a:moveTo>
                    <a:pt x="3283654" y="0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FB9A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954506" y="4535365"/>
              <a:ext cx="0" cy="104204"/>
            </a:xfrm>
            <a:custGeom>
              <a:avLst/>
              <a:pathLst>
                <a:path w="0" h="104204">
                  <a:moveTo>
                    <a:pt x="0" y="104204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FB9A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492504" y="3884087"/>
              <a:ext cx="0" cy="104204"/>
            </a:xfrm>
            <a:custGeom>
              <a:avLst/>
              <a:pathLst>
                <a:path w="0" h="104204">
                  <a:moveTo>
                    <a:pt x="0" y="104204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075052" y="3936190"/>
              <a:ext cx="2417452" cy="0"/>
            </a:xfrm>
            <a:custGeom>
              <a:avLst/>
              <a:pathLst>
                <a:path w="2417452" h="0">
                  <a:moveTo>
                    <a:pt x="2417452" y="0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075052" y="3884087"/>
              <a:ext cx="0" cy="104204"/>
            </a:xfrm>
            <a:custGeom>
              <a:avLst/>
              <a:pathLst>
                <a:path w="0" h="104204">
                  <a:moveTo>
                    <a:pt x="0" y="104204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822090" y="1930255"/>
              <a:ext cx="0" cy="104204"/>
            </a:xfrm>
            <a:custGeom>
              <a:avLst/>
              <a:pathLst>
                <a:path w="0" h="104204">
                  <a:moveTo>
                    <a:pt x="0" y="104204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33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749108" y="1982357"/>
              <a:ext cx="2072981" cy="0"/>
            </a:xfrm>
            <a:custGeom>
              <a:avLst/>
              <a:pathLst>
                <a:path w="2072981" h="0">
                  <a:moveTo>
                    <a:pt x="2072981" y="0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33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49108" y="1930255"/>
              <a:ext cx="0" cy="104204"/>
            </a:xfrm>
            <a:custGeom>
              <a:avLst/>
              <a:pathLst>
                <a:path w="0" h="104204">
                  <a:moveTo>
                    <a:pt x="0" y="104204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33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3205629" y="3232810"/>
              <a:ext cx="0" cy="104204"/>
            </a:xfrm>
            <a:custGeom>
              <a:avLst/>
              <a:pathLst>
                <a:path w="0" h="104204">
                  <a:moveTo>
                    <a:pt x="0" y="104204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6A3D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512848" y="3284912"/>
              <a:ext cx="692781" cy="0"/>
            </a:xfrm>
            <a:custGeom>
              <a:avLst/>
              <a:pathLst>
                <a:path w="692781" h="0">
                  <a:moveTo>
                    <a:pt x="692781" y="0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6A3D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512848" y="3232810"/>
              <a:ext cx="0" cy="104204"/>
            </a:xfrm>
            <a:custGeom>
              <a:avLst/>
              <a:pathLst>
                <a:path w="0" h="104204">
                  <a:moveTo>
                    <a:pt x="0" y="104204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6A3D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218237" y="2581532"/>
              <a:ext cx="0" cy="104204"/>
            </a:xfrm>
            <a:custGeom>
              <a:avLst/>
              <a:pathLst>
                <a:path w="0" h="104204">
                  <a:moveTo>
                    <a:pt x="0" y="104204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A6CE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493727" y="2633635"/>
              <a:ext cx="724510" cy="0"/>
            </a:xfrm>
            <a:custGeom>
              <a:avLst/>
              <a:pathLst>
                <a:path w="724510" h="0">
                  <a:moveTo>
                    <a:pt x="724510" y="0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A6CE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493727" y="2581532"/>
              <a:ext cx="0" cy="104204"/>
            </a:xfrm>
            <a:custGeom>
              <a:avLst/>
              <a:pathLst>
                <a:path w="0" h="104204">
                  <a:moveTo>
                    <a:pt x="0" y="104204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A6CE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5313494" y="4539932"/>
              <a:ext cx="95069" cy="95069"/>
            </a:xfrm>
            <a:prstGeom prst="ellipse">
              <a:avLst/>
            </a:prstGeom>
            <a:solidFill>
              <a:srgbClr val="FB9A99">
                <a:alpha val="100000"/>
              </a:srgbClr>
            </a:solidFill>
            <a:ln w="8345" cap="rnd">
              <a:solidFill>
                <a:srgbClr val="FB9A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112762" y="3888655"/>
              <a:ext cx="95069" cy="95069"/>
            </a:xfrm>
            <a:prstGeom prst="ellipse">
              <a:avLst/>
            </a:prstGeom>
            <a:solidFill>
              <a:srgbClr val="1F78B4">
                <a:alpha val="100000"/>
              </a:srgbClr>
            </a:solidFill>
            <a:ln w="8345" cap="rnd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691665" y="1934822"/>
              <a:ext cx="95069" cy="95069"/>
            </a:xfrm>
            <a:prstGeom prst="ellipse">
              <a:avLst/>
            </a:prstGeom>
            <a:solidFill>
              <a:srgbClr val="33A02C">
                <a:alpha val="100000"/>
              </a:srgbClr>
            </a:solidFill>
            <a:ln w="8345" cap="rnd">
              <a:solidFill>
                <a:srgbClr val="33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2637642" y="3237377"/>
              <a:ext cx="95069" cy="95069"/>
            </a:xfrm>
            <a:prstGeom prst="ellipse">
              <a:avLst/>
            </a:prstGeom>
            <a:solidFill>
              <a:srgbClr val="6A3D9A">
                <a:alpha val="100000"/>
              </a:srgbClr>
            </a:solidFill>
            <a:ln w="8345" cap="rnd">
              <a:solidFill>
                <a:srgbClr val="6A3D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2641555" y="2586100"/>
              <a:ext cx="95069" cy="95069"/>
            </a:xfrm>
            <a:prstGeom prst="ellipse">
              <a:avLst/>
            </a:prstGeom>
            <a:solidFill>
              <a:srgbClr val="A6CEE3">
                <a:alpha val="100000"/>
              </a:srgbClr>
            </a:solidFill>
            <a:ln w="8345" cap="rnd">
              <a:solidFill>
                <a:srgbClr val="A6CE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256505" y="1591591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tx35"/>
            <p:cNvSpPr/>
            <p:nvPr/>
          </p:nvSpPr>
          <p:spPr>
            <a:xfrm>
              <a:off x="1979528" y="4549162"/>
              <a:ext cx="218902" cy="753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Area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1253901" y="3876024"/>
              <a:ext cx="944528" cy="972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Current survey effort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1213268" y="3226012"/>
              <a:ext cx="985161" cy="95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Habitat heterogeneity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1173344" y="2573469"/>
              <a:ext cx="1025086" cy="972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Historical survey effort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478471" y="1923406"/>
              <a:ext cx="719959" cy="960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Per capita GDP</a:t>
              </a:r>
            </a:p>
          </p:txBody>
        </p:sp>
        <p:sp>
          <p:nvSpPr>
            <p:cNvPr id="40" name="pl40"/>
            <p:cNvSpPr/>
            <p:nvPr/>
          </p:nvSpPr>
          <p:spPr>
            <a:xfrm>
              <a:off x="2224241" y="4587467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224241" y="3936190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224241" y="3284912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224241" y="2633635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224241" y="1982357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256505" y="4978234"/>
              <a:ext cx="5218876" cy="0"/>
            </a:xfrm>
            <a:custGeom>
              <a:avLst/>
              <a:pathLst>
                <a:path w="5218876" h="0">
                  <a:moveTo>
                    <a:pt x="0" y="0"/>
                  </a:moveTo>
                  <a:lnTo>
                    <a:pt x="5218876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493727" y="4978234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26958" y="4978234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4960189" y="4978234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6193421" y="4978234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7426652" y="4978234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tx51"/>
            <p:cNvSpPr/>
            <p:nvPr/>
          </p:nvSpPr>
          <p:spPr>
            <a:xfrm>
              <a:off x="2464909" y="5034740"/>
              <a:ext cx="5763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669323" y="5034740"/>
              <a:ext cx="115270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4902554" y="5034740"/>
              <a:ext cx="115270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6135785" y="5034740"/>
              <a:ext cx="115270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369017" y="5034740"/>
              <a:ext cx="115270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80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714252" y="5135721"/>
              <a:ext cx="2303383" cy="121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Bootstrapped relative importance (%)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094237" y="1499531"/>
              <a:ext cx="79107" cy="770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58" name="rc58"/>
            <p:cNvSpPr/>
            <p:nvPr/>
          </p:nvSpPr>
          <p:spPr>
            <a:xfrm>
              <a:off x="8774486" y="1591591"/>
              <a:ext cx="5218876" cy="33866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9424727" y="1591591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0488768" y="1591591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1552808" y="1591591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2616849" y="1591591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3680890" y="1591591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2616849" y="1591591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6E6E6E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12616849" y="2591457"/>
              <a:ext cx="1120289" cy="580567"/>
            </a:xfrm>
            <a:prstGeom prst="rect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9011707" y="1785113"/>
              <a:ext cx="3605141" cy="580567"/>
            </a:xfrm>
            <a:prstGeom prst="rect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12616849" y="4204144"/>
              <a:ext cx="1130336" cy="580567"/>
            </a:xfrm>
            <a:prstGeom prst="rect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12616849" y="3397800"/>
              <a:ext cx="1139291" cy="580567"/>
            </a:xfrm>
            <a:prstGeom prst="rect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8774486" y="1591591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tx70"/>
            <p:cNvSpPr/>
            <p:nvPr/>
          </p:nvSpPr>
          <p:spPr>
            <a:xfrm>
              <a:off x="8497508" y="4456122"/>
              <a:ext cx="218902" cy="753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Area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7731249" y="3629184"/>
              <a:ext cx="985161" cy="95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Habitat heterogeneity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7691324" y="2821575"/>
              <a:ext cx="1025086" cy="972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Historical survey effort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7996451" y="2016446"/>
              <a:ext cx="719959" cy="960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Per capita GDP</a:t>
              </a:r>
            </a:p>
          </p:txBody>
        </p:sp>
        <p:sp>
          <p:nvSpPr>
            <p:cNvPr id="74" name="pl74"/>
            <p:cNvSpPr/>
            <p:nvPr/>
          </p:nvSpPr>
          <p:spPr>
            <a:xfrm>
              <a:off x="8742222" y="4494427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8742222" y="3688084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8742222" y="2881740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8742222" y="2075397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8774486" y="4978234"/>
              <a:ext cx="5218876" cy="0"/>
            </a:xfrm>
            <a:custGeom>
              <a:avLst/>
              <a:pathLst>
                <a:path w="5218876" h="0">
                  <a:moveTo>
                    <a:pt x="0" y="0"/>
                  </a:moveTo>
                  <a:lnTo>
                    <a:pt x="5218876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9424727" y="4978234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10488768" y="4978234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11552808" y="4978234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12616849" y="4978234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13680890" y="4978234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tx84"/>
            <p:cNvSpPr/>
            <p:nvPr/>
          </p:nvSpPr>
          <p:spPr>
            <a:xfrm>
              <a:off x="9306623" y="5034690"/>
              <a:ext cx="236208" cy="75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-0.03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10370664" y="5034740"/>
              <a:ext cx="236208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-0.02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11434704" y="5034740"/>
              <a:ext cx="236208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-0.01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12516000" y="5034740"/>
              <a:ext cx="201697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13580041" y="5034740"/>
              <a:ext cx="201697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0.01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10548935" y="5135721"/>
              <a:ext cx="1669978" cy="121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Delta (user effort - primary)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7604438" y="1473138"/>
              <a:ext cx="86885" cy="103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91" name="rc91"/>
            <p:cNvSpPr/>
            <p:nvPr/>
          </p:nvSpPr>
          <p:spPr>
            <a:xfrm>
              <a:off x="1029709" y="5349081"/>
              <a:ext cx="6844146" cy="395377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56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7873855" y="5349081"/>
              <a:ext cx="6184035" cy="395377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56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2256505" y="5545362"/>
              <a:ext cx="5552821" cy="33866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796271" y="5545362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4394635" y="5545362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5992999" y="5545362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7591363" y="5545362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2796271" y="5545362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6E6E6E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2796271" y="6352946"/>
              <a:ext cx="4760655" cy="468919"/>
            </a:xfrm>
            <a:prstGeom prst="rect">
              <a:avLst/>
            </a:prstGeom>
            <a:solidFill>
              <a:srgbClr val="31A3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2796271" y="7655501"/>
              <a:ext cx="252194" cy="468919"/>
            </a:xfrm>
            <a:prstGeom prst="rect">
              <a:avLst/>
            </a:prstGeom>
            <a:solidFill>
              <a:srgbClr val="31A3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2508906" y="5701668"/>
              <a:ext cx="287364" cy="468919"/>
            </a:xfrm>
            <a:prstGeom prst="rect">
              <a:avLst/>
            </a:prstGeom>
            <a:solidFill>
              <a:srgbClr val="31A3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2793008" y="8306778"/>
              <a:ext cx="3262" cy="468919"/>
            </a:xfrm>
            <a:prstGeom prst="rect">
              <a:avLst/>
            </a:prstGeom>
            <a:solidFill>
              <a:srgbClr val="31A3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2796271" y="7004223"/>
              <a:ext cx="177257" cy="468919"/>
            </a:xfrm>
            <a:prstGeom prst="rect">
              <a:avLst/>
            </a:prstGeom>
            <a:solidFill>
              <a:srgbClr val="31A3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2256505" y="5545362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tx105"/>
            <p:cNvSpPr/>
            <p:nvPr/>
          </p:nvSpPr>
          <p:spPr>
            <a:xfrm>
              <a:off x="1979528" y="8502933"/>
              <a:ext cx="218902" cy="753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Area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1253901" y="7829795"/>
              <a:ext cx="944528" cy="972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Current survey effort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1213268" y="7179783"/>
              <a:ext cx="985161" cy="95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Habitat heterogeneity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1173344" y="6527240"/>
              <a:ext cx="1025086" cy="972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Historical survey effort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1478471" y="5877177"/>
              <a:ext cx="719959" cy="960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Per capita GDP</a:t>
              </a:r>
            </a:p>
          </p:txBody>
        </p:sp>
        <p:sp>
          <p:nvSpPr>
            <p:cNvPr id="110" name="pl110"/>
            <p:cNvSpPr/>
            <p:nvPr/>
          </p:nvSpPr>
          <p:spPr>
            <a:xfrm>
              <a:off x="2224241" y="8541238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2224241" y="7889961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2224241" y="7238683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2224241" y="6587406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2224241" y="5936128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2256505" y="8932005"/>
              <a:ext cx="5552821" cy="0"/>
            </a:xfrm>
            <a:custGeom>
              <a:avLst/>
              <a:pathLst>
                <a:path w="5552821" h="0">
                  <a:moveTo>
                    <a:pt x="0" y="0"/>
                  </a:moveTo>
                  <a:lnTo>
                    <a:pt x="5552821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2796271" y="893200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4394635" y="893200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5992999" y="893200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7591363" y="893200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tx120"/>
            <p:cNvSpPr/>
            <p:nvPr/>
          </p:nvSpPr>
          <p:spPr>
            <a:xfrm>
              <a:off x="2767453" y="8988511"/>
              <a:ext cx="5763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4365817" y="8989776"/>
              <a:ext cx="57635" cy="74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5964181" y="8989776"/>
              <a:ext cx="57635" cy="74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7562546" y="8988461"/>
              <a:ext cx="57635" cy="75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3996406" y="9089492"/>
              <a:ext cx="2073019" cy="121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Delta (influence-filtered - primary)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1094237" y="5453301"/>
              <a:ext cx="79107" cy="770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126" name="rc126"/>
            <p:cNvSpPr/>
            <p:nvPr/>
          </p:nvSpPr>
          <p:spPr>
            <a:xfrm>
              <a:off x="8440541" y="5545362"/>
              <a:ext cx="5552821" cy="33866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8692942" y="5545362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10659696" y="5545362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12626450" y="5545362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8692942" y="5914814"/>
              <a:ext cx="5048019" cy="1108355"/>
            </a:xfrm>
            <a:prstGeom prst="rect">
              <a:avLst/>
            </a:prstGeom>
            <a:solidFill>
              <a:srgbClr val="B218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8692942" y="7454197"/>
              <a:ext cx="12615" cy="1108355"/>
            </a:xfrm>
            <a:prstGeom prst="rect">
              <a:avLst/>
            </a:prstGeom>
            <a:solidFill>
              <a:srgbClr val="B2182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8440541" y="5545362"/>
              <a:ext cx="0" cy="3386642"/>
            </a:xfrm>
            <a:custGeom>
              <a:avLst/>
              <a:pathLst>
                <a:path w="0" h="3386642">
                  <a:moveTo>
                    <a:pt x="0" y="3386642"/>
                  </a:moveTo>
                  <a:lnTo>
                    <a:pt x="0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tx133"/>
            <p:cNvSpPr/>
            <p:nvPr/>
          </p:nvSpPr>
          <p:spPr>
            <a:xfrm>
              <a:off x="8077186" y="7949474"/>
              <a:ext cx="305279" cy="95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Tianjin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8025269" y="6410091"/>
              <a:ext cx="357196" cy="95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Jiangsu</a:t>
              </a:r>
            </a:p>
          </p:txBody>
        </p:sp>
        <p:sp>
          <p:nvSpPr>
            <p:cNvPr id="135" name="pl135"/>
            <p:cNvSpPr/>
            <p:nvPr/>
          </p:nvSpPr>
          <p:spPr>
            <a:xfrm>
              <a:off x="8408277" y="8008375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8408277" y="6468992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8440541" y="8932005"/>
              <a:ext cx="5552821" cy="0"/>
            </a:xfrm>
            <a:custGeom>
              <a:avLst/>
              <a:pathLst>
                <a:path w="5552821" h="0">
                  <a:moveTo>
                    <a:pt x="0" y="0"/>
                  </a:moveTo>
                  <a:lnTo>
                    <a:pt x="5552821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8692942" y="893200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10659696" y="893200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12626450" y="893200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tx141"/>
            <p:cNvSpPr/>
            <p:nvPr/>
          </p:nvSpPr>
          <p:spPr>
            <a:xfrm>
              <a:off x="8664124" y="8988511"/>
              <a:ext cx="5763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10602061" y="8988511"/>
              <a:ext cx="115270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12539998" y="8988511"/>
              <a:ext cx="17290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10722827" y="9115172"/>
              <a:ext cx="988248" cy="958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Cook's distance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7938383" y="5426909"/>
              <a:ext cx="86885" cy="103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dingchenchen</cp:lastModifiedBy>
  <cp:revision>7</cp:revision>
  <dcterms:created xsi:type="dcterms:W3CDTF">2015-07-14T21:05:00Z</dcterms:created>
  <dcterms:modified xsi:type="dcterms:W3CDTF">2026-03-22T13:46:12Z</dcterms:modified>
</cp:coreProperties>
</file>